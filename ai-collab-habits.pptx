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0606f10220e433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cc8cf96bf2b4fdc"/>
    <p:sldId id="257" r:id="Rdef98d6217244b06"/>
    <p:sldId id="258" r:id="Rb22bf22e274549fe"/>
    <p:sldId id="259" r:id="R2e4c2dc3d53b4728"/>
    <p:sldId id="260" r:id="R0b2b5c825d694272"/>
    <p:sldId id="261" r:id="R26432330602f4d2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cc8cf96bf2b4fdc" /><Relationship Type="http://schemas.openxmlformats.org/officeDocument/2006/relationships/slide" Target="/ppt/slides/slide2.xml" Id="Rdef98d6217244b06" /><Relationship Type="http://schemas.openxmlformats.org/officeDocument/2006/relationships/slide" Target="/ppt/slides/slide3.xml" Id="Rb22bf22e274549fe" /><Relationship Type="http://schemas.openxmlformats.org/officeDocument/2006/relationships/slide" Target="/ppt/slides/slide4.xml" Id="R2e4c2dc3d53b4728" /><Relationship Type="http://schemas.openxmlformats.org/officeDocument/2006/relationships/slide" Target="/ppt/slides/slide5.xml" Id="R0b2b5c825d694272" /><Relationship Type="http://schemas.openxmlformats.org/officeDocument/2006/relationships/slide" Target="/ppt/slides/slide6.xml" Id="R26432330602f4d2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035c2442e40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247c8629943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94c3cb2e147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5d41f09d24b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1b551d5844f0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35481468eff40e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d7cd8aa4d4c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f1e53089e4e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9a95cfe08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bf953d9224c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e5497deb0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017d094e847b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32B"/>
            </a:gs>
            <a:gs pos="100000">
              <a:srgbClr val="1C2541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792000" y="1080000"/>
            <a:ext cx="9360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8FAFC"/>
                </a:solidFill>
                <a:latin typeface="Arial"/>
                <a:ea typeface="Arial"/>
              </a:rPr>
              <a:t>AI 协作开发的 5 个关键习惯</a:t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792000" y="2232000"/>
            <a:ext cx="72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B6C2CF"/>
                </a:solidFill>
                <a:latin typeface="Arial"/>
                <a:ea typeface="Arial"/>
              </a:rPr>
              <a:t>把模型当作工程伙伴，而不是一次性问答工具</a:t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792000" y="4104000"/>
            <a:ext cx="22320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>
            <a:solidFill>
              <a:srgbClr val="5BC0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0B132B"/>
                </a:solidFill>
                <a:latin typeface="Arial"/>
                <a:ea typeface="Arial"/>
              </a:rPr>
              <a:t>示例演示文稿</a:t>
            </a:r>
          </a:p>
        </p:txBody>
      </p:sp>
      <p:sp>
        <p:nvSpPr>
          <p:cNvPr id="10003" name="TextBox 4"/>
          <p:cNvSpPr/>
          <p:nvPr/>
        </p:nvSpPr>
        <p:spPr>
          <a:xfrm xmlns:a="http://schemas.openxmlformats.org/drawingml/2006/main" rot="480000">
            <a:off x="8928000" y="864000"/>
            <a:ext cx="2160000" cy="46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3A52">
              <a:alpha val="90000"/>
            </a:srgbClr>
          </a:solidFill>
          <a:ln xmlns:a="http://schemas.openxmlformats.org/drawingml/2006/main">
            <a:solidFill>
              <a:srgbClr val="203A5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4" name="TextBox 5"/>
          <p:cNvSpPr/>
          <p:nvPr/>
        </p:nvSpPr>
        <p:spPr>
          <a:xfrm xmlns:a="http://schemas.openxmlformats.org/drawingml/2006/main" rot="480000">
            <a:off x="9468000" y="1512000"/>
            <a:ext cx="1548000" cy="31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5F5C">
              <a:alpha val="95000"/>
            </a:srgbClr>
          </a:solidFill>
          <a:ln xmlns:a="http://schemas.openxmlformats.org/drawingml/2006/main">
            <a:solidFill>
              <a:srgbClr val="F25F5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  <p:transition>
    <p:fade/>
  </p:transition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11827"/>
            </a:gs>
            <a:gs pos="100000">
              <a:srgbClr val="0F172A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5" name="TextBox 1"/>
          <p:cNvSpPr/>
          <p:nvPr/>
        </p:nvSpPr>
        <p:spPr>
          <a:xfrm xmlns:a="http://schemas.openxmlformats.org/drawingml/2006/main">
            <a:off x="792000" y="576000"/>
            <a:ext cx="64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8FAFC"/>
                </a:solidFill>
                <a:latin typeface="Arial"/>
                <a:ea typeface="Arial"/>
              </a:rPr>
              <a:t>为什么现在就该升级工作方式</a:t>
            </a:r>
          </a:p>
        </p:txBody>
      </p:sp>
      <p:sp>
        <p:nvSpPr>
          <p:cNvPr id="10006" name="TextBox 2"/>
          <p:cNvSpPr/>
          <p:nvPr/>
        </p:nvSpPr>
        <p:spPr>
          <a:xfrm xmlns:a="http://schemas.openxmlformats.org/drawingml/2006/main">
            <a:off x="792000" y="1512000"/>
            <a:ext cx="2952000" cy="30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>
            <a:solidFill>
              <a:srgbClr val="16213E"/>
            </a:solidFill>
          </a:ln>
        </p:spPr>
        <p:txBody>
          <a:bodyPr xmlns:a="http://schemas.openxmlformats.org/drawingml/2006/main" lIns="162000" tIns="162000" rIns="162000" bIns="16200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>更快交付</a:t>
            </a:r>
          </a:p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>把样板代码、测试草稿和文档初稿交给模型，团队把时间留给关键判断。</a:t>
            </a:r>
          </a:p>
        </p:txBody>
      </p:sp>
      <p:sp>
        <p:nvSpPr>
          <p:cNvPr id="10007" name="TextBox 3"/>
          <p:cNvSpPr/>
          <p:nvPr/>
        </p:nvSpPr>
        <p:spPr>
          <a:xfrm xmlns:a="http://schemas.openxmlformats.org/drawingml/2006/main">
            <a:off x="4104000" y="1512000"/>
            <a:ext cx="2952000" cy="30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>
            <a:solidFill>
              <a:srgbClr val="18324A"/>
            </a:solidFill>
          </a:ln>
        </p:spPr>
        <p:txBody>
          <a:bodyPr xmlns:a="http://schemas.openxmlformats.org/drawingml/2006/main" lIns="162000" tIns="162000" rIns="162000" bIns="16200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>更低切换成本</a:t>
            </a:r>
          </a:p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>让模型并行整理上下文、追踪依赖、起草说明，减少重复打开文件和查资料。</a:t>
            </a:r>
          </a:p>
        </p:txBody>
      </p:sp>
      <p:sp>
        <p:nvSpPr>
          <p:cNvPr id="10008" name="TextBox 4"/>
          <p:cNvSpPr/>
          <p:nvPr/>
        </p:nvSpPr>
        <p:spPr>
          <a:xfrm xmlns:a="http://schemas.openxmlformats.org/drawingml/2006/main">
            <a:off x="7416000" y="1512000"/>
            <a:ext cx="2952000" cy="30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068"/>
          </a:solidFill>
          <a:ln xmlns:a="http://schemas.openxmlformats.org/drawingml/2006/main">
            <a:solidFill>
              <a:srgbClr val="1F4068"/>
            </a:solidFill>
          </a:ln>
        </p:spPr>
        <p:txBody>
          <a:bodyPr xmlns:a="http://schemas.openxmlformats.org/drawingml/2006/main" lIns="162000" tIns="162000" rIns="162000" bIns="16200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>更稳定质量</a:t>
            </a:r>
          </a:p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1500" b="1">
                <a:solidFill>
                  <a:srgbClr val="E5E7EB"/>
                </a:solidFill>
                <a:latin typeface="Arial"/>
                <a:ea typeface="Arial"/>
              </a:rPr>
              <a:t>把 review、验证和回归检查标准化，降低“改好了但没验证”的风险。</a:t>
            </a:r>
          </a:p>
        </p:txBody>
      </p:sp>
    </p:spTree>
  </p:cSld>
  <p:transition>
    <p:push dir="l"/>
  </p:transition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6"/>
            </a:gs>
            <a:gs pos="100000">
              <a:srgbClr val="0F2D3A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9" name="TextBox 1"/>
          <p:cNvSpPr/>
          <p:nvPr/>
        </p:nvSpPr>
        <p:spPr>
          <a:xfrm xmlns:a="http://schemas.openxmlformats.org/drawingml/2006/main">
            <a:off x="792000" y="576000"/>
            <a:ext cx="43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8FAFC"/>
                </a:solidFill>
                <a:latin typeface="Arial"/>
                <a:ea typeface="Arial"/>
              </a:rPr>
              <a:t>5 个关键习惯</a:t>
            </a:r>
          </a:p>
        </p:txBody>
      </p:sp>
      <p:sp>
        <p:nvSpPr>
          <p:cNvPr id="10010" name="TextBox 2"/>
          <p:cNvSpPr/>
          <p:nvPr/>
        </p:nvSpPr>
        <p:spPr>
          <a:xfrm xmlns:a="http://schemas.openxmlformats.org/drawingml/2006/main">
            <a:off x="792000" y="1440000"/>
            <a:ext cx="9648000" cy="4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>
            <a:solidFill>
              <a:srgbClr val="5BC0BE"/>
            </a:solidFill>
          </a:ln>
        </p:spPr>
        <p:txBody>
          <a:bodyPr xmlns:a="http://schemas.openxmlformats.org/drawingml/2006/main" lIns="90000" tIns="90000" rIns="90000" bIns="90000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B132B"/>
                </a:solidFill>
                <a:latin typeface="Arial"/>
                <a:ea typeface="Arial"/>
              </a:rPr>
              <a:t>01  先给上下文，再给任务</a:t>
            </a:r>
          </a:p>
        </p:txBody>
      </p:sp>
      <p:sp>
        <p:nvSpPr>
          <p:cNvPr id="10011" name="TextBox 3"/>
          <p:cNvSpPr/>
          <p:nvPr/>
        </p:nvSpPr>
        <p:spPr>
          <a:xfrm xmlns:a="http://schemas.openxmlformats.org/drawingml/2006/main">
            <a:off x="792000" y="2124000"/>
            <a:ext cx="8928000" cy="4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>
            <a:solidFill>
              <a:srgbClr val="18324A"/>
            </a:solidFill>
          </a:ln>
        </p:spPr>
        <p:txBody>
          <a:bodyPr xmlns:a="http://schemas.openxmlformats.org/drawingml/2006/main" lIns="90000" tIns="90000" rIns="90000" bIns="90000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8FAFC"/>
                </a:solidFill>
                <a:latin typeface="Arial"/>
                <a:ea typeface="Arial"/>
              </a:rPr>
              <a:t>02  小步改动，持续验证</a:t>
            </a:r>
          </a:p>
        </p:txBody>
      </p:sp>
      <p:sp>
        <p:nvSpPr>
          <p:cNvPr id="10012" name="TextBox 4"/>
          <p:cNvSpPr/>
          <p:nvPr/>
        </p:nvSpPr>
        <p:spPr>
          <a:xfrm xmlns:a="http://schemas.openxmlformats.org/drawingml/2006/main">
            <a:off x="792000" y="2808000"/>
            <a:ext cx="10260000" cy="4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068"/>
          </a:solidFill>
          <a:ln xmlns:a="http://schemas.openxmlformats.org/drawingml/2006/main">
            <a:solidFill>
              <a:srgbClr val="1F4068"/>
            </a:solidFill>
          </a:ln>
        </p:spPr>
        <p:txBody>
          <a:bodyPr xmlns:a="http://schemas.openxmlformats.org/drawingml/2006/main" lIns="90000" tIns="90000" rIns="90000" bIns="90000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8FAFC"/>
                </a:solidFill>
                <a:latin typeface="Arial"/>
                <a:ea typeface="Arial"/>
              </a:rPr>
              <a:t>03  明确约束：路径、接口、风格、风险</a:t>
            </a:r>
          </a:p>
        </p:txBody>
      </p:sp>
      <p:sp>
        <p:nvSpPr>
          <p:cNvPr id="10013" name="TextBox 5"/>
          <p:cNvSpPr/>
          <p:nvPr/>
        </p:nvSpPr>
        <p:spPr>
          <a:xfrm xmlns:a="http://schemas.openxmlformats.org/drawingml/2006/main">
            <a:off x="792000" y="3492000"/>
            <a:ext cx="8352000" cy="4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>
            <a:solidFill>
              <a:srgbClr val="18324A"/>
            </a:solidFill>
          </a:ln>
        </p:spPr>
        <p:txBody>
          <a:bodyPr xmlns:a="http://schemas.openxmlformats.org/drawingml/2006/main" lIns="90000" tIns="90000" rIns="90000" bIns="90000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8FAFC"/>
                </a:solidFill>
                <a:latin typeface="Arial"/>
                <a:ea typeface="Arial"/>
              </a:rPr>
              <a:t>04  让模型输出可审阅结果</a:t>
            </a:r>
          </a:p>
        </p:txBody>
      </p:sp>
      <p:sp>
        <p:nvSpPr>
          <p:cNvPr id="10014" name="TextBox 6"/>
          <p:cNvSpPr/>
          <p:nvPr/>
        </p:nvSpPr>
        <p:spPr>
          <a:xfrm xmlns:a="http://schemas.openxmlformats.org/drawingml/2006/main">
            <a:off x="792000" y="4176000"/>
            <a:ext cx="7344000" cy="4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D35E"/>
          </a:solidFill>
          <a:ln xmlns:a="http://schemas.openxmlformats.org/drawingml/2006/main">
            <a:solidFill>
              <a:srgbClr val="F4D35E"/>
            </a:solidFill>
          </a:ln>
        </p:spPr>
        <p:txBody>
          <a:bodyPr xmlns:a="http://schemas.openxmlformats.org/drawingml/2006/main" lIns="90000" tIns="90000" rIns="90000" bIns="90000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B132B"/>
                </a:solidFill>
                <a:latin typeface="Arial"/>
                <a:ea typeface="Arial"/>
              </a:rPr>
              <a:t>05  结束时沉淀知识</a:t>
            </a:r>
          </a:p>
        </p:txBody>
      </p:sp>
      <p:sp>
        <p:nvSpPr>
          <p:cNvPr id="10015" name="TextBox 7"/>
          <p:cNvSpPr/>
          <p:nvPr/>
        </p:nvSpPr>
        <p:spPr>
          <a:xfrm xmlns:a="http://schemas.openxmlformats.org/drawingml/2006/main">
            <a:off x="792000" y="5040000"/>
            <a:ext cx="576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B6C2CF"/>
                </a:solidFill>
                <a:latin typeface="Arial"/>
                <a:ea typeface="Arial"/>
              </a:rPr>
              <a:t>共同点：把要求写清楚，把反馈前移。</a:t>
            </a:r>
          </a:p>
        </p:txBody>
      </p:sp>
    </p:spTree>
  </p:cSld>
  <p:transition>
    <p:fade/>
  </p:transition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11827"/>
            </a:gs>
            <a:gs pos="100000">
              <a:srgbClr val="0B132B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6" name="TextBox 1"/>
          <p:cNvSpPr/>
          <p:nvPr/>
        </p:nvSpPr>
        <p:spPr>
          <a:xfrm xmlns:a="http://schemas.openxmlformats.org/drawingml/2006/main">
            <a:off x="792000" y="576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8FAFC"/>
                </a:solidFill>
                <a:latin typeface="Arial"/>
                <a:ea typeface="Arial"/>
              </a:rPr>
              <a:t>一个高效的协作闭环</a:t>
            </a:r>
          </a:p>
        </p:txBody>
      </p:sp>
      <p:sp>
        <p:nvSpPr>
          <p:cNvPr id="10017" name="TextBox 2"/>
          <p:cNvSpPr/>
          <p:nvPr/>
        </p:nvSpPr>
        <p:spPr>
          <a:xfrm xmlns:a="http://schemas.openxmlformats.org/drawingml/2006/main">
            <a:off x="792000" y="2016000"/>
            <a:ext cx="2016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>
            <a:solidFill>
              <a:srgbClr val="18324A"/>
            </a:solidFill>
          </a:ln>
        </p:spPr>
        <p:txBody>
          <a:bodyPr xmlns:a="http://schemas.openxmlformats.org/drawingml/2006/main" lIns="126000" tIns="126000" rIns="126000" bIns="126000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1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定义目标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结果、范围、验收标准</a:t>
            </a:r>
          </a:p>
        </p:txBody>
      </p:sp>
      <p:sp>
        <p:nvSpPr>
          <p:cNvPr id="10018" name="TextBox 3"/>
          <p:cNvSpPr/>
          <p:nvPr/>
        </p:nvSpPr>
        <p:spPr>
          <a:xfrm xmlns:a="http://schemas.openxmlformats.org/drawingml/2006/main">
            <a:off x="3096000" y="2556000"/>
            <a:ext cx="396000" cy="6480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>
            <a:solidFill>
              <a:srgbClr val="5BC0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9" name="TextBox 4"/>
          <p:cNvSpPr/>
          <p:nvPr/>
        </p:nvSpPr>
        <p:spPr>
          <a:xfrm xmlns:a="http://schemas.openxmlformats.org/drawingml/2006/main">
            <a:off x="3600000" y="2016000"/>
            <a:ext cx="2016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068"/>
          </a:solidFill>
          <a:ln xmlns:a="http://schemas.openxmlformats.org/drawingml/2006/main">
            <a:solidFill>
              <a:srgbClr val="1F4068"/>
            </a:solidFill>
          </a:ln>
        </p:spPr>
        <p:txBody>
          <a:bodyPr xmlns:a="http://schemas.openxmlformats.org/drawingml/2006/main" lIns="126000" tIns="126000" rIns="126000" bIns="126000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2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扫描上下文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先找文件，再下判断</a:t>
            </a:r>
          </a:p>
        </p:txBody>
      </p:sp>
      <p:sp>
        <p:nvSpPr>
          <p:cNvPr id="10020" name="TextBox 5"/>
          <p:cNvSpPr/>
          <p:nvPr/>
        </p:nvSpPr>
        <p:spPr>
          <a:xfrm xmlns:a="http://schemas.openxmlformats.org/drawingml/2006/main">
            <a:off x="5904000" y="2556000"/>
            <a:ext cx="396000" cy="6480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>
            <a:solidFill>
              <a:srgbClr val="5BC0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1" name="TextBox 6"/>
          <p:cNvSpPr/>
          <p:nvPr/>
        </p:nvSpPr>
        <p:spPr>
          <a:xfrm xmlns:a="http://schemas.openxmlformats.org/drawingml/2006/main">
            <a:off x="6408000" y="2016000"/>
            <a:ext cx="2016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>
            <a:solidFill>
              <a:srgbClr val="18324A"/>
            </a:solidFill>
          </a:ln>
        </p:spPr>
        <p:txBody>
          <a:bodyPr xmlns:a="http://schemas.openxmlformats.org/drawingml/2006/main" lIns="126000" tIns="126000" rIns="126000" bIns="126000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3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生成改动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代码、测试、文档一起出</a:t>
            </a:r>
          </a:p>
        </p:txBody>
      </p:sp>
      <p:sp>
        <p:nvSpPr>
          <p:cNvPr id="10022" name="TextBox 7"/>
          <p:cNvSpPr/>
          <p:nvPr/>
        </p:nvSpPr>
        <p:spPr>
          <a:xfrm xmlns:a="http://schemas.openxmlformats.org/drawingml/2006/main">
            <a:off x="8712000" y="2556000"/>
            <a:ext cx="396000" cy="6480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>
            <a:solidFill>
              <a:srgbClr val="5BC0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3" name="TextBox 8"/>
          <p:cNvSpPr/>
          <p:nvPr/>
        </p:nvSpPr>
        <p:spPr>
          <a:xfrm xmlns:a="http://schemas.openxmlformats.org/drawingml/2006/main">
            <a:off x="9216000" y="2016000"/>
            <a:ext cx="2016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068"/>
          </a:solidFill>
          <a:ln xmlns:a="http://schemas.openxmlformats.org/drawingml/2006/main">
            <a:solidFill>
              <a:srgbClr val="1F4068"/>
            </a:solidFill>
          </a:ln>
        </p:spPr>
        <p:txBody>
          <a:bodyPr xmlns:a="http://schemas.openxmlformats.org/drawingml/2006/main" lIns="126000" tIns="126000" rIns="126000" bIns="126000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4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验证总结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8FAFC"/>
                </a:solidFill>
                <a:latin typeface="Arial"/>
                <a:ea typeface="Arial"/>
              </a:rPr>
              <a:t>跑命令、看影响、沉淀经验</a:t>
            </a:r>
          </a:p>
        </p:txBody>
      </p:sp>
    </p:spTree>
  </p:cSld>
  <p:transition>
    <p:wipe dir="l"/>
  </p:transition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61616"/>
            </a:gs>
            <a:gs pos="100000">
              <a:srgbClr val="0F172A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4" name="TextBox 1"/>
          <p:cNvSpPr/>
          <p:nvPr/>
        </p:nvSpPr>
        <p:spPr>
          <a:xfrm xmlns:a="http://schemas.openxmlformats.org/drawingml/2006/main">
            <a:off x="792000" y="576000"/>
            <a:ext cx="64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8FAFC"/>
                </a:solidFill>
                <a:latin typeface="Arial"/>
                <a:ea typeface="Arial"/>
              </a:rPr>
              <a:t>明天就能开始的 3 个动作</a:t>
            </a:r>
          </a:p>
        </p:txBody>
      </p:sp>
      <p:sp>
        <p:nvSpPr>
          <p:cNvPr id="10025" name="TextBox 2"/>
          <p:cNvSpPr/>
          <p:nvPr/>
        </p:nvSpPr>
        <p:spPr>
          <a:xfrm xmlns:a="http://schemas.openxmlformats.org/drawingml/2006/main">
            <a:off x="792000" y="1656000"/>
            <a:ext cx="45000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13E"/>
          </a:solidFill>
          <a:ln xmlns:a="http://schemas.openxmlformats.org/drawingml/2006/main">
            <a:solidFill>
              <a:srgbClr val="16213E"/>
            </a:solidFill>
          </a:ln>
        </p:spPr>
        <p:txBody>
          <a:bodyPr xmlns:a="http://schemas.openxmlformats.org/drawingml/2006/main" lIns="162000" tIns="162000" rIns="162000" bIns="162000" anchor="t"/>
          <a:lstStyle xmlns:a="http://schemas.openxmlformats.org/drawingml/2006/main"/>
          <a:p xmlns:a="http://schemas.openxmlformats.org/drawingml/2006/main">
            <a:pPr marL="457200" indent="-457200">
              <a:buChar char="✓"/>
            </a:pPr>
            <a:r>
              <a:rPr lang="en-US" sz="1700" b="1">
                <a:solidFill>
                  <a:srgbClr val="E5E7EB"/>
                </a:solidFill>
                <a:latin typeface="Arial"/>
                <a:ea typeface="Arial"/>
              </a:rPr>
              <a:t>为每个任务补充成功标准与风险边界</a:t>
            </a:r>
          </a:p>
          <a:p xmlns:a="http://schemas.openxmlformats.org/drawingml/2006/main">
            <a:pPr marL="457200" indent="-457200">
              <a:buChar char="✓"/>
            </a:pPr>
            <a:r>
              <a:rPr lang="en-US" sz="1700" b="1">
                <a:solidFill>
                  <a:srgbClr val="E5E7EB"/>
                </a:solidFill>
                <a:latin typeface="Arial"/>
                <a:ea typeface="Arial"/>
              </a:rPr>
              <a:t>让模型在改代码后主动跑验证命令</a:t>
            </a:r>
          </a:p>
          <a:p xmlns:a="http://schemas.openxmlformats.org/drawingml/2006/main">
            <a:pPr marL="457200" indent="-457200">
              <a:buChar char="✓"/>
            </a:pPr>
            <a:r>
              <a:rPr lang="en-US" sz="1700" b="1">
                <a:solidFill>
                  <a:srgbClr val="E5E7EB"/>
                </a:solidFill>
                <a:latin typeface="Arial"/>
                <a:ea typeface="Arial"/>
              </a:rPr>
              <a:t>把高频流程固化成脚本、模板或 skill</a:t>
            </a:r>
          </a:p>
        </p:txBody>
      </p:sp>
      <p:sp>
        <p:nvSpPr>
          <p:cNvPr id="10026" name="TextBox 3"/>
          <p:cNvSpPr/>
          <p:nvPr/>
        </p:nvSpPr>
        <p:spPr>
          <a:xfrm xmlns:a="http://schemas.openxmlformats.org/drawingml/2006/main">
            <a:off x="6192000" y="1872000"/>
            <a:ext cx="4032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D35E"/>
          </a:solidFill>
          <a:ln xmlns:a="http://schemas.openxmlformats.org/drawingml/2006/main">
            <a:solidFill>
              <a:srgbClr val="F4D35E"/>
            </a:solidFill>
          </a:ln>
        </p:spPr>
        <p:txBody>
          <a:bodyPr xmlns:a="http://schemas.openxmlformats.org/drawingml/2006/main" lIns="162000" tIns="162000" rIns="162000" bIns="162000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0B132B"/>
                </a:solidFill>
                <a:latin typeface="Arial"/>
                <a:ea typeface="Arial"/>
              </a:rPr>
              <a:t>速度来自标准化，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0B132B"/>
                </a:solidFill>
                <a:latin typeface="Arial"/>
                <a:ea typeface="Arial"/>
              </a:rPr>
              <a:t>不来自省略验证。</a:t>
            </a:r>
          </a:p>
        </p:txBody>
      </p:sp>
    </p:spTree>
  </p:cSld>
  <p:transition>
    <p:fade/>
  </p:transition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32B"/>
            </a:gs>
            <a:gs pos="100000">
              <a:srgbClr val="1C2541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7" name="TextBox 1"/>
          <p:cNvSpPr/>
          <p:nvPr/>
        </p:nvSpPr>
        <p:spPr>
          <a:xfrm xmlns:a="http://schemas.openxmlformats.org/drawingml/2006/main">
            <a:off x="3960000" y="1800000"/>
            <a:ext cx="36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F8FAFC"/>
                </a:solidFill>
                <a:latin typeface="Arial"/>
                <a:ea typeface="Arial"/>
              </a:rPr>
              <a:t>谢谢</a:t>
            </a:r>
          </a:p>
        </p:txBody>
      </p:sp>
      <p:sp>
        <p:nvSpPr>
          <p:cNvPr id="10028" name="TextBox 2"/>
          <p:cNvSpPr/>
          <p:nvPr/>
        </p:nvSpPr>
        <p:spPr>
          <a:xfrm xmlns:a="http://schemas.openxmlformats.org/drawingml/2006/main">
            <a:off x="2160000" y="2952000"/>
            <a:ext cx="720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B6C2CF"/>
                </a:solidFill>
                <a:latin typeface="Arial"/>
                <a:ea typeface="Arial"/>
              </a:rPr>
              <a:t>先把协作流程跑顺，再追求更复杂的自动化。</a:t>
            </a:r>
          </a:p>
        </p:txBody>
      </p:sp>
      <p:sp>
        <p:nvSpPr>
          <p:cNvPr id="10029" name="TextBox 3"/>
          <p:cNvSpPr/>
          <p:nvPr/>
        </p:nvSpPr>
        <p:spPr>
          <a:xfrm xmlns:a="http://schemas.openxmlformats.org/drawingml/2006/main">
            <a:off x="4536000" y="3960000"/>
            <a:ext cx="2520000" cy="2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>
            <a:solidFill>
              <a:srgbClr val="5BC0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